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ee9fb33ff14f4f" /><Relationship Type="http://schemas.openxmlformats.org/officeDocument/2006/relationships/extended-properties" Target="/docProps/app.xml" Id="Ra5bc9fcf40b34a0f" /><Relationship Type="http://schemas.openxmlformats.org/officeDocument/2006/relationships/officeDocument" Target="/ppt/presentation.xml" Id="R99b0aa4b95b945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47168f7b45492f"/>
  </p:sldMasterIdLst>
  <p:notesMasterIdLst>
    <p:notesMasterId xmlns:r="http://schemas.openxmlformats.org/officeDocument/2006/relationships" r:id="R5fda69c473c34f7f"/>
  </p:notesMasterIdLst>
  <p:sldIdLst>
    <p:sldId xmlns:r="http://schemas.openxmlformats.org/officeDocument/2006/relationships" id="256" r:id="R630397c3ab3b49ca"/>
    <p:sldId xmlns:r="http://schemas.openxmlformats.org/officeDocument/2006/relationships" id="257" r:id="Rbb0ee8abcf354a26"/>
    <p:sldId xmlns:r="http://schemas.openxmlformats.org/officeDocument/2006/relationships" id="258" r:id="R671279d4c0c64573"/>
    <p:sldId xmlns:r="http://schemas.openxmlformats.org/officeDocument/2006/relationships" id="259" r:id="R73389942088849d4"/>
    <p:sldId xmlns:r="http://schemas.openxmlformats.org/officeDocument/2006/relationships" id="260" r:id="R468c1ec934c844b4"/>
    <p:sldId xmlns:r="http://schemas.openxmlformats.org/officeDocument/2006/relationships" id="261" r:id="R0fb8550bb2be45aa"/>
    <p:sldId xmlns:r="http://schemas.openxmlformats.org/officeDocument/2006/relationships" id="262" r:id="R4e3f4536e36443aa"/>
    <p:sldId xmlns:r="http://schemas.openxmlformats.org/officeDocument/2006/relationships" id="263" r:id="Rb5c7ae748d55486d"/>
    <p:sldId xmlns:r="http://schemas.openxmlformats.org/officeDocument/2006/relationships" id="264" r:id="R2487d420f28c420d"/>
    <p:sldId xmlns:r="http://schemas.openxmlformats.org/officeDocument/2006/relationships" id="265" r:id="R337178b05a844393"/>
    <p:sldId xmlns:r="http://schemas.openxmlformats.org/officeDocument/2006/relationships" id="266" r:id="Ref9a0f1c1d6b43b1"/>
    <p:sldId xmlns:r="http://schemas.openxmlformats.org/officeDocument/2006/relationships" id="267" r:id="Re8507638bf164f11"/>
    <p:sldId xmlns:r="http://schemas.openxmlformats.org/officeDocument/2006/relationships" id="268" r:id="R568e12f17ae54c04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6c7b2b485b4664" /><Relationship Type="http://schemas.openxmlformats.org/officeDocument/2006/relationships/slideMaster" Target="/ppt/slideMasters/slideMaster1.xml" Id="R4d47168f7b45492f" /><Relationship Type="http://schemas.openxmlformats.org/officeDocument/2006/relationships/notesMaster" Target="/ppt/notesMasters/notesMaster1.xml" Id="R5fda69c473c34f7f" /><Relationship Type="http://schemas.openxmlformats.org/officeDocument/2006/relationships/presProps" Target="/ppt/presProps.xml" Id="Rfec01edb77a44f9d" /><Relationship Type="http://schemas.openxmlformats.org/officeDocument/2006/relationships/tableStyles" Target="/ppt/tableStyles.xml" Id="R031d9026d5d944d8" /><Relationship Type="http://schemas.openxmlformats.org/officeDocument/2006/relationships/slide" Target="/ppt/slides/slide1.xml" Id="R630397c3ab3b49ca" /><Relationship Type="http://schemas.openxmlformats.org/officeDocument/2006/relationships/slide" Target="/ppt/slides/slide2.xml" Id="Rbb0ee8abcf354a26" /><Relationship Type="http://schemas.openxmlformats.org/officeDocument/2006/relationships/slide" Target="/ppt/slides/slide3.xml" Id="R671279d4c0c64573" /><Relationship Type="http://schemas.openxmlformats.org/officeDocument/2006/relationships/slide" Target="/ppt/slides/slide4.xml" Id="R73389942088849d4" /><Relationship Type="http://schemas.openxmlformats.org/officeDocument/2006/relationships/slide" Target="/ppt/slides/slide5.xml" Id="R468c1ec934c844b4" /><Relationship Type="http://schemas.openxmlformats.org/officeDocument/2006/relationships/slide" Target="/ppt/slides/slide6.xml" Id="R0fb8550bb2be45aa" /><Relationship Type="http://schemas.openxmlformats.org/officeDocument/2006/relationships/slide" Target="/ppt/slides/slide7.xml" Id="R4e3f4536e36443aa" /><Relationship Type="http://schemas.openxmlformats.org/officeDocument/2006/relationships/slide" Target="/ppt/slides/slide8.xml" Id="Rb5c7ae748d55486d" /><Relationship Type="http://schemas.openxmlformats.org/officeDocument/2006/relationships/slide" Target="/ppt/slides/slide9.xml" Id="R2487d420f28c420d" /><Relationship Type="http://schemas.openxmlformats.org/officeDocument/2006/relationships/slide" Target="/ppt/slides/slide10.xml" Id="R337178b05a844393" /><Relationship Type="http://schemas.openxmlformats.org/officeDocument/2006/relationships/slide" Target="/ppt/slides/slide11.xml" Id="Ref9a0f1c1d6b43b1" /><Relationship Type="http://schemas.openxmlformats.org/officeDocument/2006/relationships/slide" Target="/ppt/slides/slide12.xml" Id="Re8507638bf164f11" /><Relationship Type="http://schemas.openxmlformats.org/officeDocument/2006/relationships/slide" Target="/ppt/slides/slide13.xml" Id="R568e12f17ae54c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fabe14cd94a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cc53c501b14ea7" /><Relationship Type="http://schemas.openxmlformats.org/officeDocument/2006/relationships/notesMaster" Target="/ppt/notesMasters/notesMaster1.xml" Id="Rdd9f653d3e76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25b001b3c5410f" /><Relationship Type="http://schemas.openxmlformats.org/officeDocument/2006/relationships/notesMaster" Target="/ppt/notesMasters/notesMaster1.xml" Id="Rd408097be40b48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2bb971ff0649b1" /><Relationship Type="http://schemas.openxmlformats.org/officeDocument/2006/relationships/notesMaster" Target="/ppt/notesMasters/notesMaster1.xml" Id="Rd4a4be1be61344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da98d5e2c9460e" /><Relationship Type="http://schemas.openxmlformats.org/officeDocument/2006/relationships/notesMaster" Target="/ppt/notesMasters/notesMaster1.xml" Id="Rccf4095b2fbc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5aebc63db34c12" /><Relationship Type="http://schemas.openxmlformats.org/officeDocument/2006/relationships/notesMaster" Target="/ppt/notesMasters/notesMaster1.xml" Id="R2ae333b82a92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d5da75ed284fa8" /><Relationship Type="http://schemas.openxmlformats.org/officeDocument/2006/relationships/notesMaster" Target="/ppt/notesMasters/notesMaster1.xml" Id="R5cd72ca0315145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639e800f934366" /><Relationship Type="http://schemas.openxmlformats.org/officeDocument/2006/relationships/notesMaster" Target="/ppt/notesMasters/notesMaster1.xml" Id="R8df14a510967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19ac4e035a427c" /><Relationship Type="http://schemas.openxmlformats.org/officeDocument/2006/relationships/notesMaster" Target="/ppt/notesMasters/notesMaster1.xml" Id="R740d5ca599b247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06b2a92e184d39" /><Relationship Type="http://schemas.openxmlformats.org/officeDocument/2006/relationships/notesMaster" Target="/ppt/notesMasters/notesMaster1.xml" Id="R2a35b14d458648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c7847f91fd4e83" /><Relationship Type="http://schemas.openxmlformats.org/officeDocument/2006/relationships/notesMaster" Target="/ppt/notesMasters/notesMaster1.xml" Id="Rfd4398aee41840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be734b952541be" /><Relationship Type="http://schemas.openxmlformats.org/officeDocument/2006/relationships/notesMaster" Target="/ppt/notesMasters/notesMaster1.xml" Id="R43d01806dab64d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e88f091ae747a6" /><Relationship Type="http://schemas.openxmlformats.org/officeDocument/2006/relationships/notesMaster" Target="/ppt/notesMasters/notesMaster1.xml" Id="Rfed87dbbdd0c4a1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c13df3a9aa4d43" /><Relationship Type="http://schemas.openxmlformats.org/officeDocument/2006/relationships/notesMaster" Target="/ppt/notesMasters/notesMaster1.xml" Id="Rbe50be1f80bf43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6bf08d8e947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0abba7bc647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2172d349749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f59b64fce42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4cfa6f32943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71ae990134f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6F2BE2-B30A-46B5-88A7-1A43747E18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2914650"/>
            <a:ext cx="109728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ADA4A0-6F04-4CFC-AF67-684572B11F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57400" y="4243388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EEFE9C-A2E6-415E-B8EB-13699549E0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1600" y="3214688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7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EE4338-38B5-41C6-9824-252A89EC3C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B726F2-2765-4FDA-903B-C2B0B81D44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121729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B321A1-30D0-418F-BB56-8D9AF3997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424D3F-6940-4BD3-A4A0-C484ED31F7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8E6732-AB30-4182-BEDC-745105AC97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2866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36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449032-2547-4FB3-BD27-EFCFFE980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1525" y="600075"/>
            <a:ext cx="121729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2733E2-9002-42B6-A581-D9E28B2C90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1525" y="2143125"/>
            <a:ext cx="5657850" cy="480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71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429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858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6287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716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3145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6574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000375" indent="-257175" algn="l">
              <a:lnSpc>
                <a:spcPct val="110000"/>
              </a:lnSpc>
              <a:spcBef>
                <a:spcPts val="0"/>
              </a:spcBef>
              <a:spcAft>
                <a:spcPts val="1350"/>
              </a:spcAft>
              <a:buChar char="•"/>
              <a:defRPr sz="253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ac351ef0d9417b" /><Relationship Type="http://schemas.openxmlformats.org/officeDocument/2006/relationships/slideLayout" Target="/ppt/slideLayouts/slideLayout1.xml" Id="R8dec2ea9e6424285" /><Relationship Type="http://schemas.openxmlformats.org/officeDocument/2006/relationships/slideLayout" Target="/ppt/slideLayouts/slideLayout2.xml" Id="R7c9d4ea2d8e044fc" /><Relationship Type="http://schemas.openxmlformats.org/officeDocument/2006/relationships/slideLayout" Target="/ppt/slideLayouts/slideLayout3.xml" Id="R2fbc149a768c46f7" /><Relationship Type="http://schemas.openxmlformats.org/officeDocument/2006/relationships/slideLayout" Target="/ppt/slideLayouts/slideLayout4.xml" Id="Rc64d461341664305" /><Relationship Type="http://schemas.openxmlformats.org/officeDocument/2006/relationships/slideLayout" Target="/ppt/slideLayouts/slideLayout5.xml" Id="R3ca87fa6c19b466c" /><Relationship Type="http://schemas.openxmlformats.org/officeDocument/2006/relationships/slideLayout" Target="/ppt/slideLayouts/slideLayout6.xml" Id="R33979cb59eff45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ec2ea9e6424285"/>
    <p:sldLayoutId xmlns:r="http://schemas.openxmlformats.org/officeDocument/2006/relationships" id="2147483650" r:id="R7c9d4ea2d8e044fc"/>
    <p:sldLayoutId xmlns:r="http://schemas.openxmlformats.org/officeDocument/2006/relationships" id="2147483651" r:id="R2fbc149a768c46f7"/>
    <p:sldLayoutId xmlns:r="http://schemas.openxmlformats.org/officeDocument/2006/relationships" id="2147483652" r:id="Rc64d461341664305"/>
    <p:sldLayoutId xmlns:r="http://schemas.openxmlformats.org/officeDocument/2006/relationships" id="2147483653" r:id="R3ca87fa6c19b466c"/>
    <p:sldLayoutId xmlns:r="http://schemas.openxmlformats.org/officeDocument/2006/relationships" id="2147483654" r:id="R33979cb59eff45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36001a7ba34a62" /><Relationship Type="http://schemas.openxmlformats.org/officeDocument/2006/relationships/image" Target="/ppt/media/image.png" Id="Re9d7e8802d004bbb" /><Relationship Type="http://schemas.openxmlformats.org/officeDocument/2006/relationships/notesSlide" Target="/ppt/notesSlides/notesSlide1.xml" Id="Re8e61ff83a9545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73cbe759c4f5a" /><Relationship Type="http://schemas.openxmlformats.org/officeDocument/2006/relationships/image" Target="/ppt/media/image2.png" Id="Rdf5a7c3d76a34142" /><Relationship Type="http://schemas.openxmlformats.org/officeDocument/2006/relationships/image" Target="/ppt/media/image3.png" Id="Rdce851aef48e43c7" /><Relationship Type="http://schemas.openxmlformats.org/officeDocument/2006/relationships/notesSlide" Target="/ppt/notesSlides/notesSlide2.xml" Id="Rf6e842fff8a34d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5ad421bb3d4558" /><Relationship Type="http://schemas.openxmlformats.org/officeDocument/2006/relationships/image" Target="/ppt/media/image4.png" Id="R6be91272ef4c458e" /><Relationship Type="http://schemas.openxmlformats.org/officeDocument/2006/relationships/image" Target="/ppt/media/image5.png" Id="R560e7155a6494392" /><Relationship Type="http://schemas.openxmlformats.org/officeDocument/2006/relationships/image" Target="/ppt/media/image6.png" Id="R5a6bdf5bf46c4dfc" /><Relationship Type="http://schemas.openxmlformats.org/officeDocument/2006/relationships/notesSlide" Target="/ppt/notesSlides/notesSlide3.xml" Id="Ra4814f9e89a74c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1109d39874665" /><Relationship Type="http://schemas.openxmlformats.org/officeDocument/2006/relationships/image" Target="/ppt/media/image7.png" Id="R2a6c7c03c4dd4008" /><Relationship Type="http://schemas.openxmlformats.org/officeDocument/2006/relationships/notesSlide" Target="/ppt/notesSlides/notesSlide4.xml" Id="R476e3520bd294a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a6732a8f7445f" /><Relationship Type="http://schemas.openxmlformats.org/officeDocument/2006/relationships/image" Target="/ppt/media/image8.png" Id="R13d7c824a5c0475d" /><Relationship Type="http://schemas.openxmlformats.org/officeDocument/2006/relationships/image" Target="/ppt/media/image9.png" Id="R82900ba5dce64771" /><Relationship Type="http://schemas.openxmlformats.org/officeDocument/2006/relationships/image" Target="/ppt/media/image10.png" Id="R42bf868cae31402e" /><Relationship Type="http://schemas.openxmlformats.org/officeDocument/2006/relationships/notesSlide" Target="/ppt/notesSlides/notesSlide5.xml" Id="R0c272c21656c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6fe8922914b5e" /><Relationship Type="http://schemas.openxmlformats.org/officeDocument/2006/relationships/image" Target="/ppt/media/image11.png" Id="R3050987470724824" /><Relationship Type="http://schemas.openxmlformats.org/officeDocument/2006/relationships/notesSlide" Target="/ppt/notesSlides/notesSlide6.xml" Id="R649e59cb217d47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8b2fe362045a8" /><Relationship Type="http://schemas.openxmlformats.org/officeDocument/2006/relationships/notesSlide" Target="/ppt/notesSlides/notesSlide7.xml" Id="R0862993dd3c94b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16a7a26274669" /><Relationship Type="http://schemas.openxmlformats.org/officeDocument/2006/relationships/image" Target="/ppt/media/image12.png" Id="Rf13b7560d45b4bdf" /><Relationship Type="http://schemas.openxmlformats.org/officeDocument/2006/relationships/notesSlide" Target="/ppt/notesSlides/notesSlide8.xml" Id="Rf8ca051220e241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7684412f54496" /><Relationship Type="http://schemas.openxmlformats.org/officeDocument/2006/relationships/image" Target="/ppt/media/image13.png" Id="Ra22902871911454f" /><Relationship Type="http://schemas.openxmlformats.org/officeDocument/2006/relationships/notesSlide" Target="/ppt/notesSlides/notesSlide9.xml" Id="R993d136fef7349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e51cfcba0e47e5" /><Relationship Type="http://schemas.openxmlformats.org/officeDocument/2006/relationships/image" Target="/ppt/media/image14.png" Id="Rdd726a4915d74152" /><Relationship Type="http://schemas.openxmlformats.org/officeDocument/2006/relationships/notesSlide" Target="/ppt/notesSlides/notesSlide10.xml" Id="R04c8b576c97b4e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63bd60a9904f3f" /><Relationship Type="http://schemas.openxmlformats.org/officeDocument/2006/relationships/image" Target="/ppt/media/image15.png" Id="R7b301f4974044f72" /><Relationship Type="http://schemas.openxmlformats.org/officeDocument/2006/relationships/image" Target="/ppt/media/image16.png" Id="Rbb60b6aecd284115" /><Relationship Type="http://schemas.openxmlformats.org/officeDocument/2006/relationships/notesSlide" Target="/ppt/notesSlides/notesSlide11.xml" Id="R4aeca89533e640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b832bd3e84c7a" /><Relationship Type="http://schemas.openxmlformats.org/officeDocument/2006/relationships/image" Target="/ppt/media/image17.png" Id="Rc5206b1b79774b57" /><Relationship Type="http://schemas.openxmlformats.org/officeDocument/2006/relationships/image" Target="/ppt/media/image18.png" Id="Rb84b912dbe914718" /><Relationship Type="http://schemas.openxmlformats.org/officeDocument/2006/relationships/notesSlide" Target="/ppt/notesSlides/notesSlide12.xml" Id="Rf89c7609d3384a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f64b4bfcd46a1" /><Relationship Type="http://schemas.openxmlformats.org/officeDocument/2006/relationships/image" Target="/ppt/media/image19.png" Id="R06e466ba771a4cbc" /><Relationship Type="http://schemas.openxmlformats.org/officeDocument/2006/relationships/notesSlide" Target="/ppt/notesSlides/notesSlide13.xml" Id="R6b1fb5816b26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9D1A5-7D7E-4CE3-BFA1-03F2530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C17BF-14F9-48F9-9234-B6E66A97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62000"/>
            <a:ext cx="7810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502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5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502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502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МОЯ АПТЕЧКА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D1643-B3BE-462F-B32C-C27D820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22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Учёт курсов, расписание и история приёмов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E726-D173-498A-B6C1-C9F9180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6572250" cy="1933575"/>
          </a:xfrm>
          <a:prstGeom xmlns:a="http://schemas.openxmlformats.org/drawingml/2006/main" prst="roundRect">
            <a:avLst>
              <a:gd name="adj" fmla="val 788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9E888-CFD3-402A-BF5C-1DB9231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Рабочее веб-приложение на Vue 3 и FastAPI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B1559-87D6-46C3-B9A1-FB96CCE5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581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Клиентское шифрование медицинских данных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и общий справочник лекарств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29BAC-6134-4A81-8ABA-2F226464D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7e8802d004b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1628775"/>
            <a:ext cx="34290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D4CDB-4ED7-4309-8BD9-E3C0FF49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341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D48C8C"/>
                </a:solidFill>
                <a:latin typeface="Georgia"/>
                <a:ea typeface="Georgia"/>
                <a:cs typeface="Georgia"/>
              </a:rPr>
              <a:t>Гончарова Маргарита · Джем Лариса · Емельянова Дарья · Иванова Валерия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E9E5A-49AC-4210-AE2D-C258BA6E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7341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r">
              <a:buNone/>
              <a:defRPr sz="13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ЭФБО-03-24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C4295-C0FB-4F12-A080-95B98ED6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F0141-BDBF-4829-9D83-A3EB786C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22C76-5C23-41C5-92F8-B9849920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99B9-B5BF-495A-AA5B-7FFD5910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73F45-FF2A-4230-8AB8-BA39FD5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EF561-E6EC-4E85-9499-C1EAA20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85E2D-1D8B-456E-B887-15C4648E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5A1C54-D580-4575-A49E-5F479B3F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622E7-863E-46ED-9128-BE7337A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03D36-A7AC-48D3-A161-08602D36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7A08E-0A89-47F5-B18C-DDA2753F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23E135-CA1E-4BC0-8D44-8EE1DD7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B937C-B4E3-4C4E-B94B-62DCFBEA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0D400-C64E-48B7-8320-1701AE92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13C818-2A1F-49B2-978E-A6500FA8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578AC-2EFE-433F-93CD-21E08B1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C3179-68F5-426F-856A-7691E69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5394E-B2DB-4ADF-9604-D640802C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B7CCE7-CD5F-4D22-B404-499113A7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5F0670-F8DB-46CF-A695-8E48C63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0B88A-73D3-4DE4-9689-9C4C0AA4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AC9D46-DD17-41EF-88FC-F2DFF17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1BB9A9-00FC-41B4-A915-92DBB17D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0270C-4C68-4D51-A1CA-23432AE3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BD8038-3A44-45B7-9A69-89D1F9E7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DDAA7-1031-42BE-AD0D-F3E3FD5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CB54D-971D-4860-82D1-81944677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DBD903-AE99-40EA-B276-E257A636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C55EC3-233B-4DBA-82E1-E1E595B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C65B4-1089-46F1-BAE4-AD3CB8A6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81927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DE724C-16EB-419F-B078-8405DA4B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23875"/>
            <a:ext cx="540068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4253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67EE1-C253-4CF4-885C-783E7B32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8" y="323850"/>
            <a:ext cx="420053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330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E876AB-4624-4F00-9EEF-578891B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9" y="713899"/>
            <a:ext cx="300038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363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1C7D80-FA2A-4697-B8D8-368BBDD0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D3ED4A-B34D-41A9-B061-303D4D33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43D7F-B357-4C3E-9E45-89A107C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2908CB2-8899-4C88-B507-81EDC1E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D25B76-463B-4C18-B2A0-E07FC3F1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CC03A5-8A9C-4B61-B188-4E3ED0EF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4DADA7-A824-448E-90C1-C9A6742A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2534F8-91A3-4DB1-9F1A-D79ACA98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3740D4-7C7E-4719-A005-4ACEA0A9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D19DD4-BA6E-45FD-B0A2-90A2EF2B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DFA5BB-E4E3-493C-A4E8-98C5BC80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63EB06-389C-47C3-8EF8-DAB36BED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B856E0-865F-463C-BED9-60DC038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19E038-251C-434A-89AF-88DDB87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AA4118-B222-4F13-AFB6-0828DC57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692D1A-92CD-4871-9662-501FF788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91A0D3-9B9D-41F3-82C5-7640410F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ECE819-C244-4AA7-A931-098CE1AE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195C71-4EB0-4A6C-A6FF-B9A667FA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B4DF40-7D2B-431C-9E25-735B9C9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545121-02F8-4BF5-9C2D-B14EE386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C5226F-0FBA-4BE9-ACF8-54EA1F59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34BD91-7B73-40F1-8E80-8F2FB77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A45320-08DD-41A2-8BFF-5F09E96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0F8D9DC-7019-4D8E-9EE0-200F611C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9D31E7-680E-4CD1-8B35-BDDFC89F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1A7305-A39E-47F8-B217-D3900275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FB82C68-E3EA-483E-9515-AF18C651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56BB5C-7288-450B-9729-96B2ED4B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65E6CA8-98CD-4B69-8A3E-FE6B8A7E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90074D-CA61-4B89-B698-9DD6AE65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1A02E01-10B0-4B59-AB70-79BD48E4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7936E9-1D55-4BA8-9B72-1D22549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FA4468-7B4A-4ADD-8262-ED5A732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E4340C-99D7-45D4-92F3-0EE9EBB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EA3895-6AED-4FBE-AB60-9F8CDAF9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6404AE-CE56-4E66-8B60-82EB7CEA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1714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2119CD-1AB0-4CED-8FCC-7E9E2A1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44855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0ED1295-8BC6-4BEB-89ED-0F935FA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429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4CCA7B-A79D-4C00-A328-52AB6E7C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429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2A8A80-7D74-4144-921F-6CA3E9B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953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DD95798-4EF8-48D7-BF11-95C5ABB7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953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F11FD23-4931-4FD5-94FE-8256D6C2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4478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BA0160-7797-4BDB-ACFE-F55C197D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14478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9E411E-8D28-4719-A6CD-FA485E6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0002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C44B37F-D621-4CCD-9EC3-BCA5002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0002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691F39-2F77-4B80-A0F9-05CE28E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E380224-0F56-4BEC-B00F-473F483C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25527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4CA8A7-C84B-41F9-B841-6611CCFC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051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8F1134B-A01B-4D52-9826-9CECF646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1051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9417DB-9FAB-442F-9484-151E15C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576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C586FCF-6EC3-4A04-A702-5F4297D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6576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489474-09DD-4DAC-8823-FC01D213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2100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CF90236-8F03-4006-9D9C-ED11FCA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2100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FB04818-0243-457C-91AF-062A06A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7625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C80B93B-9906-4898-8212-91D4DAA0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47625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189957D-4FB4-47B4-AA82-4D84A30A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3149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630ADBD-2256-4798-83A8-765E0978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3149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159DE1-389D-4E70-A1BE-06CC4758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8674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D8F6CC-2567-47DB-A9C1-A7EC2E09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58674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6EBDAF3-FDCB-46D7-BBFA-84BED2B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198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63E0CBE-E246-4D46-9182-4740556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4198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EBC18E1-13CD-4AE6-926F-36EBDF07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9723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A7DA3B2-80C2-4D3A-B6CE-A5EAB255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9723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F091B2-8E8E-4039-B790-C01BD90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1238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627AD5-3915-44FF-9028-B0C617B6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245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08:00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323A4F-6BFE-40BC-B4CE-8BAC523F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67350"/>
            <a:ext cx="1238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4325FA2-18CC-48EA-AE5D-F0B24A32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245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15:00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19A65D9-68CA-413B-BEF7-90E2FBF2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67350"/>
            <a:ext cx="1238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DAFB20-C473-4F99-982C-97F50477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5245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21:00</a:t>
            </a:r>
          </a:p>
        </p:txBody>
      </p:sp>
    </p:spTree>
    <p:extLst>
      <p:ext uri="{BB962C8B-B14F-4D97-AF65-F5344CB8AC3E}">
        <p14:creationId xmlns:p14="http://schemas.microsoft.com/office/powerpoint/2010/main" val="664973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7AD61-8FB4-4812-82F0-19E20A55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5DC1A-A66D-40D2-A1D2-2DC5001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Проблема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FABB0-22C2-49C0-B14D-73A333D2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5B0EC-FB92-4B69-BD79-15FA733B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80962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E68E5-AC96-4EEC-A832-33539DE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73342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У разных лекарств отличаются время, доза и продолжительность курса.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После нескольких приёмов легко забыть, что уже принято сегодня.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20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20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Расписание, инструкции и история часто находятся в разных местах.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94A45-6856-422B-A64D-339BD98E4C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a7c3d76a341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1650" y="14859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06A63-D3CD-40D0-A081-88DFEA6D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34075"/>
            <a:ext cx="11430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C3D6B-58B6-415B-BC19-434631C3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15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3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Путаница в расписании приводит к пропущенному или повторному приёму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CF2E-336C-4876-961D-6F88444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45FB1-C799-42D5-9FB2-0A4C85F7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59B2B-05CC-44A9-A49F-6D79F023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89B03-4D34-4317-93A9-CA876AF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E030F-1E9C-4B41-956A-ED1B366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F0773-3411-48CA-8A81-2B8CC77A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53D4E-7D83-4C33-98F1-48F2F2C8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22DA1-9FE5-4C7A-95F2-EC199FAF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1E4A0-A2CB-45AA-AF37-4E55A0E2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5ACF1-E570-43E8-8D3B-DE0B5120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6FEA8-BE14-42EA-BCCA-4661C4C2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2A7BE-5048-4556-91C1-57A55454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C8D0A-FF72-4FC2-886B-0EBC43F0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C51C0-BE09-45B5-8189-950E620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B14106-52B7-4723-8C6C-0BEEB346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219FC-FAE4-4B42-A316-1A1A6022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BF651-D0D1-4F72-AFD6-9CB6150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C912D-B390-4842-993D-8D112D1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8D0B2-F9A6-492E-8E14-B2E7FE55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6E8C89-D309-4EE9-AE0D-3C5F89CB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79874F-5E0E-49EC-AEA1-726B6419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C4478-FEBE-4D18-8B77-D5985D00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EE550B-174F-4667-8B4D-ACA54D5A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8BEE38-3D19-48E6-94BC-09DC531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2FC265-C7EF-453F-B532-43487E82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3A7465-625A-4B70-9C6A-3FB9258C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42D67C-0D87-40A0-8A93-5E772182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E2354-7327-401E-BDDD-96B4088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D6F73F-F013-4952-9C85-E6FE595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A9F473-FDE7-474A-8FF9-39AEBDB3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E0B6DC-5448-4E88-8BF1-4A09AB7B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B08F26-106C-4C4C-BFE6-DCD644570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851aef48e43c7"/>
          <a:stretch xmlns:a="http://schemas.openxmlformats.org/drawingml/2006/main"/>
        </p:blipFill>
        <p:spPr>
          <a:xfrm xmlns:a="http://schemas.openxmlformats.org/drawingml/2006/main">
            <a:off x="10382250" y="0"/>
            <a:ext cx="3333750" cy="111381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9E81BC-3F5A-4F60-B16A-EA96F041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742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C76F3-2128-4B5C-A254-A17B7D1C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A06C2-6F0A-4D4C-AA32-50A50C08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Что уже работает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A98F8-F83B-40F8-A22E-E990C7A5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713F1-2472-4360-968E-1F4FC722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52550"/>
            <a:ext cx="2391181" cy="4953000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CB4FB-BD38-44CF-94C4-76345811A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91272ef4c458e"/>
          <a:stretch xmlns:a="http://schemas.openxmlformats.org/drawingml/2006/main"/>
        </p:blipFill>
        <p:spPr>
          <a:xfrm xmlns:a="http://schemas.openxmlformats.org/drawingml/2006/main">
            <a:off x="990600" y="1447800"/>
            <a:ext cx="2200681" cy="4762500"/>
          </a:xfrm>
          <a:prstGeom xmlns:a="http://schemas.openxmlformats.org/drawingml/2006/main" prst="roundRect">
            <a:avLst>
              <a:gd name="adj" fmla="val 519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C3F46-8B80-468C-A521-E008EE43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72225"/>
            <a:ext cx="23530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Календарь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B596A-2FB6-4CA8-9C50-2328E88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52550"/>
            <a:ext cx="2391181" cy="4953000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7CE81-1693-4CDE-9641-88DA2FD9BA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e7155a6494392"/>
          <a:stretch xmlns:a="http://schemas.openxmlformats.org/drawingml/2006/main"/>
        </p:blipFill>
        <p:spPr>
          <a:xfrm xmlns:a="http://schemas.openxmlformats.org/drawingml/2006/main">
            <a:off x="4914900" y="1447800"/>
            <a:ext cx="2200681" cy="4762500"/>
          </a:xfrm>
          <a:prstGeom xmlns:a="http://schemas.openxmlformats.org/drawingml/2006/main" prst="roundRect">
            <a:avLst>
              <a:gd name="adj" fmla="val 519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FA4F1-2B14-44F0-B625-894B4C2C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6372225"/>
            <a:ext cx="23530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Курсы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6B013-4131-4E52-A3F2-4AC88DF8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52550"/>
            <a:ext cx="2391181" cy="4953000"/>
          </a:xfrm>
          <a:prstGeom xmlns:a="http://schemas.openxmlformats.org/drawingml/2006/main" prst="roundRect">
            <a:avLst>
              <a:gd name="adj" fmla="val 637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3B6DB-7B0D-44E9-84A9-C9728EF356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bdf5bf46c4dfc"/>
          <a:stretch xmlns:a="http://schemas.openxmlformats.org/drawingml/2006/main"/>
        </p:blipFill>
        <p:spPr>
          <a:xfrm xmlns:a="http://schemas.openxmlformats.org/drawingml/2006/main">
            <a:off x="8839200" y="1447800"/>
            <a:ext cx="2200681" cy="4762500"/>
          </a:xfrm>
          <a:prstGeom xmlns:a="http://schemas.openxmlformats.org/drawingml/2006/main" prst="roundRect">
            <a:avLst>
              <a:gd name="adj" fmla="val 519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4B308-CB07-4AB6-A064-689E0BC6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72225"/>
            <a:ext cx="2353081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Справочник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AB1E8-DE15-4C24-B64B-EEA9CB66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610350"/>
            <a:ext cx="2724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76909A-61EE-446C-AF91-73CCFF90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6389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100 препаратов из ГРЛС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0F4C1-F79B-449D-BB54-2E950789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650DF-2379-4B6A-AE81-CFC8322B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B4D5A-832D-4EF3-8D53-6347D569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D0C40-BEDF-483A-A251-91C21008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9E96F-7420-4DA0-9729-603430B6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DD84C-1E49-4333-8D15-A5BD793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0DF1F4-5BDF-46EE-A9E9-C3ACEF2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A1EDC5-3533-4B13-BCE3-7283B444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4DAF5-E78C-4FC3-B758-DF1E28B8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3F7445-30B2-4C7A-A816-2994456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16EE5-ADCE-4DD6-ADF8-1AADC1C6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3B3DC-5F5C-4791-8C5C-E6CF53C4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5D09A-0A14-4C3B-A428-B74DFEC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55AA3A-DBE1-4FCD-919B-9885CD8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4FCDC5-5A43-4432-9A5A-EBA1AFBE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23D330-C978-42F1-A73B-408421F8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07111-9C3D-4EDA-9C2E-C038A367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39BC68-3CFD-4DF9-9978-54FD8ACB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8CD15B-FB1F-49FA-80C1-33C410B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1AF3D-07F3-4B2E-9D3D-23851A3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6C3968-0C11-4182-A983-FAC31621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EFE96D-9DCC-4637-A3DB-A19E269E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ED3AC-710B-4C5C-B0D3-CDCC1F8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40A2DF-007B-4F60-9F99-644BC80C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43B2C9-7DE8-444B-9593-4733D120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41301F-47E6-41B5-99EE-E0BEE85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605749-94EA-483C-957D-6E5C4023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7F3225-9EAF-4848-8A49-0E39F7FB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463202-778A-4FE9-A421-AD2ABC0E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C5FC6F-3157-40E3-8DB2-4406C55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8D9DC6-2AF1-4F0C-B868-B3E7BA89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46DA77-0141-4C7E-80FC-BFEACEB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462915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3FAE66-90E9-4487-B4F1-E4196676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" y="6572250"/>
            <a:ext cx="36004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8EA059-6778-4A20-B2D3-1DC8E71D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8" y="6906578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4537569-BCCB-40CB-990F-7C81D476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24019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84D38-331A-470F-BCA8-FCA3D67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C4DF-DACF-42E5-B0EF-A6404D49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Курсы и расписание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3DA91-D8B9-459E-A1DB-66E348C8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DDA5F-B7D9-4A0B-AFC3-31FE3AFD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589243" cy="5381625"/>
          </a:xfrm>
          <a:prstGeom xmlns:a="http://schemas.openxmlformats.org/drawingml/2006/main" prst="roundRect">
            <a:avLst>
              <a:gd name="adj" fmla="val 588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D347B-5991-4AE5-BC6C-227115522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c7c03c4dd4008"/>
          <a:stretch xmlns:a="http://schemas.openxmlformats.org/drawingml/2006/main"/>
        </p:blipFill>
        <p:spPr>
          <a:xfrm xmlns:a="http://schemas.openxmlformats.org/drawingml/2006/main">
            <a:off x="876300" y="1428750"/>
            <a:ext cx="2398743" cy="5191125"/>
          </a:xfrm>
          <a:prstGeom xmlns:a="http://schemas.openxmlformats.org/drawingml/2006/main" prst="roundRect">
            <a:avLst>
              <a:gd name="adj" fmla="val 476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7C238-4FD0-4B1B-8975-F66BAC41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81800"/>
            <a:ext cx="255114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Добавление курса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439F1-085E-4806-9A08-0C04A58A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57325"/>
            <a:ext cx="8048625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9C469-6180-4D59-A52D-EC2E6F1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24025"/>
            <a:ext cx="712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Один курс хранит период и несколько вариантов приёма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04EB5-AF50-468B-AE31-3A1C459D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670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3D3BC-3E1A-4CB5-8316-C879FA4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95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08:00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23080-7DA0-4C7F-ACAC-2421D348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670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FFD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B58B1-D45E-4A31-9BC6-E9C4EA91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5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15:00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6D79B-2807-4AB4-BD69-28A46C1E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670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FFD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9034A-9364-4A4D-9630-5846F3A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955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21:00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7CE1B-DA39-4CFF-A81F-4B82BE63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62325"/>
            <a:ext cx="685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Для каждого времени можно указать собственную дозировку.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Дни недели выбираются отдельно для каждой записи расписания.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Дата окончания необязательна.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0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80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Курс без расписания означает приём по необходимости.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6927B-E078-428B-8E5E-129AA4F3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8BA793-EFDE-4DE0-A153-E6B4EF1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B512E-9701-455B-8CD4-8DE148AC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91336-95A5-4EB0-860E-7661CD25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BB7FA-5830-4257-8D2E-BBF68506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EE26B-14D9-43F0-B429-F543111F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92BDB-CFA4-4AE8-9B8C-1EF6E9A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517B7-F519-4294-9F86-5DEB247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DDF79-D0CB-4AB6-94CF-D0966AEC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6BFAE-5867-4829-8065-F01183BB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F4B2A-A446-44A1-9849-78911923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38A081-E569-4302-8B39-F1B9BF73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6F8812-04B8-4DAE-AE37-EAD384F2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5D66B8-9C0C-4139-8263-5452695F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932CB-50FB-444D-84EF-E4A3672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A55E2F-571B-4997-8864-C475E703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95364E-854D-435B-A393-49FB5FCD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BBD38-6239-4881-BCE4-A686D51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D31540-11BF-40A9-ADF9-A3E41D5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CFE832-3CF0-425E-B2FB-CF0B983C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98B990-C29B-4878-B14D-A7C8D8E0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D2F04D-007C-4E4B-910C-1E906688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34DE7A-E0D6-4C15-BD2C-72405588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1B859A-DE9C-47D0-9472-448EB1F4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AAADB2-02FD-4C6F-8F8F-A3DF6C9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DFAB69-C888-487D-9068-8C4AFB45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F333BA-28B0-4800-AF36-97AC3E07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01E0E2-A018-4894-B34C-BD169BEB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851925-2ECE-43FE-8DC5-E492D1A9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9F0F1C-9AE0-4ABF-8511-4F6F3979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1ACA4F-B8B7-46D7-8A87-F75F9E3E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D02770-6C8F-4098-A0C1-E4189BE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71310"/>
            <a:ext cx="370332" cy="370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40102E-E4DD-4C07-8C78-509F5648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536" y="6534150"/>
            <a:ext cx="288036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B8580B-BAFF-4B3E-87E5-B378D1FF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986" y="6801612"/>
            <a:ext cx="2057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A9A1233-69A2-4039-B3BC-13833698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154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D7162-7E5B-4C3E-B3C2-12BCDFE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B2639-FE03-4E5E-9594-6F1A6541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Приёмы и история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0DDB4-B9F0-42A3-A095-C1471BBD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83CA6-7749-4648-9595-2E84E413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2303154" cy="4762500"/>
          </a:xfrm>
          <a:prstGeom xmlns:a="http://schemas.openxmlformats.org/drawingml/2006/main" prst="roundRect">
            <a:avLst>
              <a:gd name="adj" fmla="val 661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8E197-9371-4B98-B1D4-4B86331BBC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7c824a5c0475d"/>
          <a:stretch xmlns:a="http://schemas.openxmlformats.org/drawingml/2006/main"/>
        </p:blipFill>
        <p:spPr>
          <a:xfrm xmlns:a="http://schemas.openxmlformats.org/drawingml/2006/main">
            <a:off x="666750" y="1457325"/>
            <a:ext cx="2112654" cy="4572000"/>
          </a:xfrm>
          <a:prstGeom xmlns:a="http://schemas.openxmlformats.org/drawingml/2006/main" prst="roundRect">
            <a:avLst>
              <a:gd name="adj" fmla="val 54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D33A4-A175-49B3-B32D-A3F2133A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226505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План на день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A8F00-4B69-4ACD-9AC4-0A8F8707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62075"/>
            <a:ext cx="2303154" cy="4762500"/>
          </a:xfrm>
          <a:prstGeom xmlns:a="http://schemas.openxmlformats.org/drawingml/2006/main" prst="roundRect">
            <a:avLst>
              <a:gd name="adj" fmla="val 661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3FC1A-BB31-4B40-8856-654377562B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00ba5dce64771"/>
          <a:stretch xmlns:a="http://schemas.openxmlformats.org/drawingml/2006/main"/>
        </p:blipFill>
        <p:spPr>
          <a:xfrm xmlns:a="http://schemas.openxmlformats.org/drawingml/2006/main">
            <a:off x="4038600" y="1457325"/>
            <a:ext cx="2112654" cy="4572000"/>
          </a:xfrm>
          <a:prstGeom xmlns:a="http://schemas.openxmlformats.org/drawingml/2006/main" prst="roundRect">
            <a:avLst>
              <a:gd name="adj" fmla="val 541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0A877-4D71-4F23-8AE8-7A285324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191250"/>
            <a:ext cx="2265054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История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069BB-BA0E-404C-B99E-DC8DF02B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66850"/>
            <a:ext cx="542925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7B886-F52A-4967-8E86-15C16BC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62125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В истории сохраняется факт приёма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9BE50-44FF-41FB-BF57-4D3C4D8B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71750"/>
            <a:ext cx="4476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Плановый приём связывается с курсом и временем расписания.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Внеплановую запись можно создать из курса или без курса.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Перед сохранением пользователь меняет фактическую дозу и время.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Название и дозировка копируются в запись. Изменение курса не меняет прошлое.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BFB30-9F10-4A0B-9751-679FCD46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CF0AC-2A1B-40A3-97BB-B8CF3C14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43DD3-5F28-4200-9809-4C9AE095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3A29E-F392-44E8-9FC9-E9393B17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53F9E-4DDC-4B8E-8A86-2BF35D7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08A7B-F23D-4D8B-B1AA-2FA9465D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FE7A6-61F1-4A0A-A5BC-5CF2836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B69F28-C9C4-43B0-8637-3880529B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7DD54-12BA-4D62-8589-19F2E134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DC6C18-9A92-4E37-AA6C-B924B3A3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F4A1C-EBD2-4F9B-A328-9CAF81C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B4F383-869D-4431-BAEC-E1EE0074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4A40D-A26C-4C49-822B-6C0718D2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68852-EAF1-47EF-B778-07B820F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375B9-A91F-45AA-841B-1840A53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0479E9-2953-4CB5-B3F9-EC3CBCE9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7C58A2-A4E6-488B-AC1F-D333587B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D383CB-8184-47A0-99FD-3B10C637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8A185-82F0-4D4D-9DCF-8BE0BCA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76D6C-DECE-48DC-A2D3-E5C196B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B05019-0AE1-4272-A0AB-CD4785E6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B2731-4F4D-4204-B5C3-0216E61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29E7B6-1F60-42C5-92F5-BAFF8B8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2AFC61-C075-4E45-B8AA-C840B24E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2E91A8-A438-487E-AB0C-54275548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000173-88F5-4C71-8761-88AE564A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1BB645-419E-48C7-9F93-02E57521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58F15-7636-452F-9A53-93914E76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1321C2-1A5D-479E-A281-AB1B636F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EE204A-C8C8-4364-B9F4-CFBD1E0D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2FD269-9828-4B20-977B-F980387C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64E437-3DE8-4E18-8FCD-A144814E7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f868cae31402e"/>
          <a:stretch xmlns:a="http://schemas.openxmlformats.org/drawingml/2006/main"/>
        </p:blipFill>
        <p:spPr>
          <a:xfrm xmlns:a="http://schemas.openxmlformats.org/drawingml/2006/main">
            <a:off x="10382250" y="0"/>
            <a:ext cx="3333750" cy="1113810"/>
          </a:xfrm>
          <a:prstGeom xmlns:a="http://schemas.openxmlformats.org/drawingml/2006/main" prst="roundRect">
            <a:avLst>
              <a:gd name="adj" fmla="val 10169"/>
            </a:avLst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F17E7AF-101D-4977-B155-161D97F7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776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DA75B-3CA1-40FD-828F-C3D96E6D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15F0-1B3E-4427-BCD3-98E7C158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Справочник и роли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17C65-339E-49CE-B87B-26C84DF1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67647-D02F-462A-BE7D-E39CDED4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43025"/>
            <a:ext cx="2532025" cy="5257800"/>
          </a:xfrm>
          <a:prstGeom xmlns:a="http://schemas.openxmlformats.org/drawingml/2006/main" prst="roundRect">
            <a:avLst>
              <a:gd name="adj" fmla="val 601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BD6FD-0CDC-4C3B-9F6E-1EBF178A7E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0987470724824"/>
          <a:stretch xmlns:a="http://schemas.openxmlformats.org/drawingml/2006/main"/>
        </p:blipFill>
        <p:spPr>
          <a:xfrm xmlns:a="http://schemas.openxmlformats.org/drawingml/2006/main">
            <a:off x="809625" y="1438275"/>
            <a:ext cx="2341525" cy="5067300"/>
          </a:xfrm>
          <a:prstGeom xmlns:a="http://schemas.openxmlformats.org/drawingml/2006/main" prst="roundRect">
            <a:avLst>
              <a:gd name="adj" fmla="val 48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8787C-8514-4DFD-916E-7C957D6F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667500"/>
            <a:ext cx="2493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Поиск и фильтры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E42C0-4C10-4230-B7B4-5A82E4DE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524000"/>
            <a:ext cx="77724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E0544-129E-415F-8733-9C5FAA9D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52600"/>
            <a:ext cx="2038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057DF-6B3B-4D56-A968-5D31642B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811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Гость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8B759-4B9C-4589-BA6F-9821797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7720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Просматривает активные препараты без регистрации.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20264-BB50-4A4D-89D4-DBD5C1A2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77724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30BF3-5A8F-46B1-B934-46C1F8CF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24225"/>
            <a:ext cx="2038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FBEEC-B110-4BC8-B4D7-477403A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528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Пользователь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38A82-1B11-48D6-A6A9-00819015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67075"/>
            <a:ext cx="47720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Выбирает препарат из справочника при создании курса.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E4DB9-5C9E-4115-8D6B-63025D1F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67250"/>
            <a:ext cx="77724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91FAC-175F-47A4-AC23-323336D4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2038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E085B-59BF-4071-A9E7-CF94F25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2442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Администратор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AD16F-B24F-483A-8D97-F399AB75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47720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Добавляет, редактирует и скрывает препараты. Медицинские записи пользователей ему недоступны.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DF7CC-0B92-433D-A6D1-AF01616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410325"/>
            <a:ext cx="771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D48C8C"/>
                </a:solidFill>
                <a:latin typeface="Georgia"/>
                <a:ea typeface="Georgia"/>
                <a:cs typeface="Georgia"/>
              </a:rPr>
              <a:t>Начальная выборка: 100 записей из Государственного реестра лекарственных средств Минздрава России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20165-D4CF-41B7-858E-ABA4458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6151D-4841-46A1-B7B3-14E02B8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7D869-EDFB-44D1-AE6D-22ACB3C2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ABD79-1C10-48D1-A3E6-E486349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6663B-EB6A-4FA4-A430-714F3CA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043BC-18B3-4BE4-A752-C3D2010D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F9BCD-771F-484A-B8EF-1450E92F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B4A458-58F2-4F3C-B230-15EE83F3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D0B54-6413-433E-BA31-9D2598E7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BB52D-99C9-4082-A6A9-72D65487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D06585-35BB-4FAD-9EA1-64204162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718A84-4CEA-479C-BE07-AA5283A8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7A7E17-1728-4E38-A000-9DD75B3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4D7B50-3FAC-46D0-A3B5-99D16283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C38318-D95A-4012-95F8-57FB7811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9D5A96-502D-432E-A117-8F7D41BE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EE5A9C-CD94-42E3-88F7-97ED1C25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C83AA0-83AE-4485-ADF6-F7C7F95D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4CC6D4-9D04-49E1-BACF-E846B2C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CBD8A2-7AA5-46E7-B59C-E002008D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3622D2-EFDA-43B8-9793-AB02264F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C47B60-EA5F-483B-9C71-F0CEFF0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49AA75-DF11-4D23-9465-184F9DFF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4E7E8B-719D-4036-A3A3-20D1A536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EDE225-5A48-4162-A246-7280202E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8CBE27-197F-45B5-A943-E340DA1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80CC04-13BF-413E-9E97-86997959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37D837-1928-427B-B2D9-2F3C6337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108553D-3EA5-4091-813F-71AAD76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97AAEA-8E08-4EDD-824D-ACFF968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87A12F-5150-4ECC-A430-7112430A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44F615-50D0-454F-A90B-F3DE5300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462915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D32C39-36EF-4065-A008-A832E58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" y="6572250"/>
            <a:ext cx="36004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C131EC-53BA-4DF2-883C-D3935E54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8" y="6906578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CC2A18-DC30-474B-AE1B-A7467472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2349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5D84B-1C26-4E7B-9851-2B98B626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66032-F063-49B7-882A-A3434BAC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Структура приложения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D5C21-7E90-44AB-8D31-DE5CBF4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993C7-F65D-41DA-AF12-6CB960FA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3238500" cy="3390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6AFFB-0063-4519-9876-E42FD188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431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2E355-97B9-4DA6-BF26-EAC2851E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A41F4-ABBA-4C4F-8371-44B96FE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147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экраны приложения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шифрование через Web Crypto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локальные настройки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AB14B-E446-40D9-ACFE-7664B951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71675"/>
            <a:ext cx="3238500" cy="3390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5E2598-FFA8-4C9B-B460-AB01332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5D8A4-CB24-48A4-91AF-B65E7C97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527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5017-FBC5-4781-9071-995ADE1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REST API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проверка владельца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JWT и роли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186B7-7C30-4786-8109-94FA379D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71675"/>
            <a:ext cx="3238500" cy="33909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95A12-7049-4CC0-889B-AF0721E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1431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85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F0CE64-B340-4486-89D3-67D37B21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6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AF6C8-7160-4198-A6D5-B870022F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714750"/>
            <a:ext cx="2571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пользователи и справочник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зашифрованные курсы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расписания и приёмы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16618-23CE-4460-B991-8D36DE4F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F8D9E"/>
                </a:solidFill>
                <a:latin typeface="Georgia"/>
                <a:ea typeface="Georgia"/>
                <a:cs typeface="Georgia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59207-7DE9-49DA-A8E2-142F9B81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62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52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pPr>
            <a:r>
              <a:rPr sz="5250" b="1">
                <a:solidFill>
                  <a:srgbClr val="FF8D9E"/>
                </a:solidFill>
                <a:latin typeface="Georgia"/>
                <a:ea typeface="Georgia"/>
                <a:cs typeface="Georgia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5C072-7DBB-47C6-B0F3-32D33699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724525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799A6-2AB9-48A8-B7EE-5301995C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57531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HTTPS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C4DA2-CF76-4C24-A982-5A9920C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724525"/>
            <a:ext cx="1809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36015-4442-47B2-8475-E7C7E0C2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53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SQLAlchemy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3308E-3468-427B-B455-782973DA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419850"/>
            <a:ext cx="40957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1DF"/>
          </a:solidFill>
          <a:ln xmlns:a="http://schemas.openxmlformats.org/drawingml/2006/main" w="9525">
            <a:solidFill>
              <a:srgbClr val="FFE1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4CA26-E39D-462D-AD1C-9308E15E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496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SMTP отправляет одноразовый код входа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7EB83-E080-42E5-9B69-7B948808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33EDC2-8E94-43E7-8497-143FDF56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4835C-2D12-477B-9C1E-36C563B6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EB7AC3-D3EE-48D6-B200-943742F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F9151B-BD45-40F3-8F45-5FB8D857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D6005A-95F4-4540-9897-9969766E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C178F4-E5F9-4594-8CC5-09E28066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0D42D2-C54E-43EB-A2E7-A802DCAD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3B31B5-14D7-4D3D-AFA9-E09D50A9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52C39-E5CB-41EF-93F2-E600DBD4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D30FE2-09F4-463B-9DFA-72102F41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DB7E9C-E7D9-482A-AEBE-06D0F0D1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47361-FE46-4C2D-9B08-6E0E527B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B91E42-86B1-4D82-B8FB-08F42F52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80EC2F-6634-4358-A16E-AFE564D5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8B61FC-B154-4043-AB44-4E51F9B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7C40CC-EF22-4C89-99E3-4ABE72BA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B69556-47BC-451E-9827-95285D4D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76DB97-6932-46A6-9CB4-353F7B6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15845B-6799-4950-871F-D6CA3F6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338D0B-EE50-4101-99EC-06892C2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B8D3E2-7CE9-47D4-BCBB-5A11737E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558180-7F2D-4F08-8398-331E8D10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2230DE-3FFC-4599-8C0E-9CFC8CC5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A0605B-E1FC-48E2-A1ED-2AB68FB0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C3CE43-2D9C-4BDD-BF8F-FEDEB9D8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1BDB99-5CE1-4E35-A943-BB829893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ED804F-D77F-4781-93AF-A53D5AEA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A2D2FD-9DFB-4912-9277-A065449E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E4F36F-D778-41C8-95A2-863D9F0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5C3E18-7F6D-4B37-B40E-65E7490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F800D8-9AD4-42F7-B9A6-1F8A4EEC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71310"/>
            <a:ext cx="370332" cy="370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98A47D-E1F5-4D59-9565-D6C2D6C3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536" y="6534150"/>
            <a:ext cx="288036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79EB26-B32D-47F0-BAEF-6A5B87E4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986" y="6801612"/>
            <a:ext cx="2057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DED9B5-4A9D-4AB4-A1E0-9CE14DED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53960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C41B48-EF0E-49D5-A06D-9411357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256B5-3D42-454A-8A22-AF71DD7C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Шифрование медицинских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8A621-F387-4608-9B54-0C76FC4C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62447-ABA5-466C-92B1-6EB72B1A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5875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Шифрование выполняется до отправки на 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26032-0E34-46C1-8359-2EA92C19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762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0E997-AAB3-4778-9132-8F28247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310E2-9360-4969-A7D2-F79F0FE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E9ACD-3963-45E3-8039-6F670E3C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Пароль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19472B-7FEE-44EB-BD77-5E8F3540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9567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Остаётся на устройстве и открывает доступ к данным.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C644E-B71D-4BE7-9DF9-61D19971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76550"/>
            <a:ext cx="51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8D9E"/>
                </a:solidFill>
                <a:latin typeface="Georgia"/>
                <a:ea typeface="Georgia"/>
                <a:cs typeface="Georgia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16BD4-5066-4D5F-9257-B450830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76450"/>
            <a:ext cx="2762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DD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F890F-AB48-418F-96B6-24E17506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6695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EED75-2805-44A0-B2CA-28E239B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955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D8527-A337-4C9E-BE39-9277C712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384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Argon2id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4E2EC-CF2B-49B6-9C31-EDAD01A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9567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Усиливает пароль перед использованием.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F25B4-9BAD-44B0-9184-29BD972B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51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8D9E"/>
                </a:solidFill>
                <a:latin typeface="Georgia"/>
                <a:ea typeface="Georgia"/>
                <a:cs typeface="Georgia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C7E16-02C2-4CEA-BE12-E005A66F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6450"/>
            <a:ext cx="2762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2BE46-AF92-4D35-840B-51A29C60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CA0E6-6EAA-4B98-A911-80341755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955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84F24-8981-4C41-BFA2-7F6005F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384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AES-256-GCM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36FF0-E38C-4A77-8015-E2E600FE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9567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Шифрует медицинские поля до отправки.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71A42-54A0-4F29-8F62-26B46004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514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4050" b="1">
                <a:solidFill>
                  <a:srgbClr val="FF8D9E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8D9E"/>
                </a:solidFill>
                <a:latin typeface="Georgia"/>
                <a:ea typeface="Georgia"/>
                <a:cs typeface="Georgia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A1FDD-2D7B-41F8-B119-6A28ED8D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076450"/>
            <a:ext cx="2762250" cy="25146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4DD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AD682C-1B78-4243-AC77-CF99C59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66950"/>
            <a:ext cx="457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783B8-10CC-4A73-8AED-EC4EE1DE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95525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B5DDCE-CC0C-4139-9CC8-3EC069A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38450"/>
            <a:ext cx="2228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Сервер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F2B98-C739-4D91-B22C-E072C3D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95675"/>
            <a:ext cx="2228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Получает уже зашифрованные записи.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D6B152-AF28-4B1C-8AC8-83FC9A72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723900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B32C2-A622-4003-8B8F-0E4F3180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Сервер хранит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0165DD-9D39-4D9E-BB3F-8D4A53D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647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зашифрованные медицинские поля и закрытый служебный ключ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38CE49-488F-4BE6-8279-A8FC5C7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24450"/>
            <a:ext cx="4095750" cy="1438275"/>
          </a:xfrm>
          <a:prstGeom xmlns:a="http://schemas.openxmlformats.org/drawingml/2006/main" prst="roundRect">
            <a:avLst>
              <a:gd name="adj" fmla="val 10596"/>
            </a:avLst>
          </a:prstGeom>
          <a:solidFill xmlns:a="http://schemas.openxmlformats.org/drawingml/2006/main">
            <a:srgbClr val="FFE1DF"/>
          </a:solidFill>
          <a:ln xmlns:a="http://schemas.openxmlformats.org/drawingml/2006/main" w="9525">
            <a:solidFill>
              <a:srgbClr val="FFE1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F191B-7912-4F55-8C3F-02DACA1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149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Сервер не получает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EA42B-8390-48C5-8241-A38B124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53100"/>
            <a:ext cx="3286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пароль и открытые медицинские записи</a:t>
            </a:r>
          </a:p>
        </p:txBody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86A95E-228E-4365-AE26-1BFF68986B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b7560d45b4bdf"/>
          <a:srcRect xmlns:a="http://schemas.openxmlformats.org/drawingml/2006/main" l="3181" t="0" r="3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72875" y="1200150"/>
            <a:ext cx="1257300" cy="876300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5E4A6-5251-4A8C-9A63-B71411E1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83CFEF-85D2-4B97-B04C-26C35D4E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CF1AF-542D-402B-AB82-C76B0CA3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6E9A46-F4F5-43E9-8FDE-30F9A63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996302-6678-4070-91C0-22253359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A6BAC3-C6C7-4E6C-99FE-F81EC010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FF95EF-D2BF-41DD-AB88-20582992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8CA341-A12A-4A7A-883F-279A1EF6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F9BC43-16F1-4C46-903F-FF7135A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1E9634-FBB7-4AE0-8F12-6B7CB1D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98E877-A2B0-468D-9566-3972377F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45EF99-7AE9-40EC-993A-3A85A00E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67BEDA-FB7C-4F91-BC53-783EF986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8FD66D1-4707-4FDF-A716-087D146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DE7E7F-2541-40FA-AB40-02F4BB7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CC529D-16FE-4B2F-9C6B-D9E1172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4CA1AC-1968-41B4-A3B4-94A50D9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9D9EFE-EC5E-4F3A-B0A9-960F68E0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4D9115-C317-4CF6-B778-3F51E916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0CC372-1C25-4E7D-9FE8-3C750CFD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6D9C0C-B4D1-4CE9-A457-72C25012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67DC8D-1BEF-468F-9429-AC6ACDBF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BD40E2-8692-4362-9A28-1C3BC2CF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428F96-3EA0-4420-9FDD-EB3CB4DF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892B917-4A9C-4A43-AD74-45AF1C06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D9E336C-376F-4AA4-BB17-CFC79DB8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61CA13-89B1-4BCF-A027-4D12E61C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DEC00D-A2D6-40DE-8904-60B971C2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A3F1E-A07B-4A39-887A-7EBA265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2E6999-98DF-4842-9D89-0427366E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6FCD78-1DE0-4C5B-92C5-5F6CA932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48E129B-8551-4CEC-A1C9-64C8F76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462915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2FB308-D620-4F24-A338-D6E034CF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" y="6572250"/>
            <a:ext cx="36004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C52CA4A-54C1-453F-84FC-40794F8C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8" y="6906578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9C7EF35-2E7A-42FB-83F1-2AA606F9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92717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CBBD8-623B-41B1-AED7-6874D146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E87A0-FAC0-43E7-8C09-D5308460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Авторизация и контроль доступа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DF605-2DB8-41C6-ADF5-C60B7FB4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10171-C419-44F3-B824-07064B6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57721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66BC5-8EAD-443D-A607-E91E9B57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52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Вход по электронной почте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2E8EA-B8A3-416A-AE8F-B9644D59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847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A1410-1FB1-402B-8C5F-8EF2C383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431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Одноразовый код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3FB55-C9E3-44EF-B0AA-77218F90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860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6 цифр, срок действия 5 минут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FC4F6-0F30-4FB2-9EEE-B13C22F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847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92910-05BF-45DF-9840-D45F8E6D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575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Access-токен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931C6-FC6B-431C-A59F-C5832D21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004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30 минут для запросов к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EDE75-695B-4336-AD0E-AB5AE6E3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847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66033-9942-4BEE-AE71-8DB52E65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71975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Refresh-токен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71C06-A293-471B-9DC1-024B3E17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148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30 дней для обновления сеанса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C7516-7391-48C9-B121-F96B314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0542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D48C8C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D48C8C"/>
                </a:solidFill>
                <a:latin typeface="Georgia"/>
                <a:ea typeface="Georgia"/>
                <a:cs typeface="Georgia"/>
              </a:rPr>
              <a:t>Повторная отправка через минуту. После пяти ошибок код блокируется.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6717A-4342-4D8F-B314-3131CAFA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495425"/>
            <a:ext cx="611505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87E32-F713-4076-A1D7-6C6EAFA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Проверка прав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71BA8-955A-4CE1-B035-3BB39F88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953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Пользователь получает только собственные курсы и приёмы.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Идентификатор из URL всегда проверяется вместе с user_id.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Роль admin разрешает менять только общий справочник.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Чужие медицинские данные остаются зашифрованными.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2B9F5-357D-41C6-9820-8B51C22D03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902871911454f"/>
          <a:srcRect xmlns:a="http://schemas.openxmlformats.org/drawingml/2006/main" l="0" t="7731" r="0" b="7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34750" y="5267325"/>
            <a:ext cx="1352550" cy="1009650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3FA85-B413-4B70-8C46-398E003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DDACB5-5C49-40E5-B113-6943AB8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4A4B3-E5D4-4F1A-B4CD-9EBF1F1F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07452-4320-489C-B80C-8A655457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58FB2-B2E7-4F9B-A8D1-81A8B82E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AE21D-D18A-4421-B500-19F7D87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9AFB4-67D0-4514-95BD-FD1956C4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04174-24ED-489C-9FCC-13682D8A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97BF8-E566-4237-A98F-7AADDAF4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86D226-F0FE-4A1C-B179-E114E261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8EC77-70EF-43F7-9271-9A0B504E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5BDA38-3C94-4C28-A06C-38D202B0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90D41B-3FAB-4F6B-8825-A3C057D8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B64427-5561-4594-9BDC-4C1601AE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21DF01-C42B-4AE6-AB41-1DF3D417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C3971B-64B7-449C-93B5-ACBA77A8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5928AA-D09C-4C13-9C76-393DC5BE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5D252D-9EFF-4C98-8F8F-F5960945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146924-830E-4CBA-984D-2F18614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5265E-E07A-4586-A199-62276351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7E77B-07BE-442A-B5AA-24FC8200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3B969D0-26B2-4CFD-B949-345C2A6F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BB246A-D13F-4AE9-BE37-9AA3AA19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16C04-1546-4C88-8021-CF94FB18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41963D-4E49-4DB9-B08D-964B9EA6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922E5C-A672-402E-93AC-80AEECF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237ABF-B873-4FEA-819F-9C3A37C8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B67780-B2ED-4F07-8457-364ED97E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226B64-CB70-446B-8456-A17A321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826335-906E-4DC1-9BA7-0A857487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DC6C10-36ED-461D-AE1A-2277DEAD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8E42A2-9222-4006-A996-676D2A84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71310"/>
            <a:ext cx="370332" cy="370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916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A2FD1B-20A8-4442-AB93-FCB1D3CD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536" y="6534150"/>
            <a:ext cx="288036" cy="288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268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D6007C-C141-47EB-89ED-71EEF83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8986" y="6801612"/>
            <a:ext cx="20574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620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5F67D0-BCB2-4CC7-8F25-33CB19F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25610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22D12-73ED-47A9-BC2D-3EEB524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B1DE5-693D-4BAC-8FE8-CB3A07B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Текущее 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B23CF-5016-459D-A326-22BE6AB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F324B-6EBB-45C6-B1AC-72563D8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5953125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685FA-0713-4DEC-AD6A-8278AFAD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13716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8B0A5-927A-40C3-9418-FC0BC48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81175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ГОТОВО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93715-DF66-4A09-9EC5-7EB460BD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51435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Frontend обращается к реальному API и обновляет access-токен.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Курсы, расписания и приёмы работают с клиентским шифрованием.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Справочник содержит 100 официальных записей.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Сборка frontend проходит успешно. Backend: 11 тестов.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AE6F5-E954-463B-9717-9F32EE78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04950"/>
            <a:ext cx="5953125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E1DF"/>
          </a:solidFill>
          <a:ln xmlns:a="http://schemas.openxmlformats.org/drawingml/2006/main" w="9525">
            <a:solidFill>
              <a:srgbClr val="FFE1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F0167-2F4D-4DB8-8A66-715973B5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752600"/>
            <a:ext cx="2190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6E08D-68F0-4E37-9C8E-86144376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7811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FFFDF7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FFFDF7"/>
                </a:solidFill>
                <a:latin typeface="Georgia"/>
                <a:ea typeface="Georgia"/>
                <a:cs typeface="Georgia"/>
              </a:rPr>
              <a:t>ОГРАНИЧЕНИЯ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3950F-C54C-4F64-9396-54E43C10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57450"/>
            <a:ext cx="51435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>
              <a:buNone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Уведомления браузера работают, пока открыта страница.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IndexedDB пока заменяет защищённое хранилище телефона.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Изменение моделей требует пересоздания учебной базы.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725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725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Развёртывание в публичной среде ещё не выполнено.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18C81-83B0-460D-94C7-B4478AA9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C7B54-9E31-4A70-AAB5-9AD309B6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34800B-50C1-4BDC-8290-9ACA0CF6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5B507-815A-408B-9AC7-CDF64BB5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A8C175-64F6-4B10-B72A-AD8DB1D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9FE39-8EF4-4D03-8090-35A471CB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7CB43-3E0B-4C57-972C-C1B66A10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31F53-FC07-40D9-A6BA-7A9895CD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40EA7-32A0-47CA-BF1C-B55D4AF2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7B431-6441-4B90-B45B-FE51BB9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AAFFE2-BDDF-4219-805F-2A042BC8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AAA0E-F5D1-41A4-9AD7-0CCA033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03C0D-8574-46B9-B7E1-7A5A1AED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736578-44A4-4A71-AB1D-5426FA8E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F0451-6471-449D-9CF5-9061311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A03B3-D6A6-4811-85FA-E36F2235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9983D0-56D1-4DB1-BFAA-31906202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C7A3F-45D8-4C51-8FAC-A7FAACF6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DFA1B-5EA4-446F-B2C5-9B38CDCE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40C386-5932-4981-9F82-B945EF46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D625B-9EFA-4D06-A5E0-F5E3F07C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D761BC-5D1D-4276-AF32-9A8EA263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4033B-91E5-409A-8EF5-AC31A6F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DE4DF2-BFDB-41DD-AE5A-CA52005D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D0648-BA32-4A8E-9930-134FB845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79728D-C41E-49D4-A553-53932DEF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1F2097-FE4D-4BE9-99E9-B54E841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56FE94-7ACD-40A6-8169-9E0827F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AD2154-D3FB-41AD-996B-90DBCE9A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2410C1-4521-4844-AA91-0919C4E8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7EA127-BC82-45E8-B76F-43BC616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4C988D-9067-40E4-A15A-A14F107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462915" cy="462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3645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174BA5F-2204-40CE-97E8-B5DDB2E2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" y="6572250"/>
            <a:ext cx="36004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835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B310B7-3498-4839-811A-A124E42B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8" y="6906578"/>
            <a:ext cx="257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9E5773-CA19-4440-8297-125E44C5EB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6a4915d74152"/>
          <a:srcRect xmlns:a="http://schemas.openxmlformats.org/drawingml/2006/main" l="0" t="12162" r="0" b="121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49050" y="5200650"/>
            <a:ext cx="1409700" cy="1066800"/>
          </a:xfrm>
          <a:prstGeom xmlns:a="http://schemas.openxmlformats.org/drawingml/2006/main" prst="roundRect">
            <a:avLst>
              <a:gd name="adj" fmla="val 10714"/>
            </a:avLst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1E67E7-3CC9-4C1D-9642-46D1D120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02546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DE36B1-0A89-4EBC-BF0E-04596F5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9F975-F1A0-4764-898A-C45AB55A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Будущее: мобильное приложение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396A4-3CD1-4432-95FF-9E2CD6A1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71450"/>
            <a:ext cx="647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5100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CF1402-A3D4-4DC8-8836-CE40D8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ABB8F-E253-4D3B-9B27-42CCAB49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D5144-799C-4A15-96C4-45DE2BE8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0C0F91-FB04-441F-95CD-8854774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F4061-BC25-4F9B-B912-50434674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C84C3-FE41-4F38-9C01-6C84E008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FF232-7943-4C2F-905E-E1A139AE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54080-C402-4209-B164-1BA74681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A7F2E-9232-47FB-8DA2-2DFFB8A3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7D9D97-0B2F-4178-B5AE-5315A28C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B45880-D4A2-4E1F-A2B3-623C401D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6AB997-64AF-4D45-95FF-F203E240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AEB9DC-4F4B-4A59-9795-9DEEA7A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83EAC-BA08-465E-8541-11568639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8696D-FF33-433F-B924-2CC87C85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FBCDA-5912-41A7-A884-8546831D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89EEE4-8A49-44DB-9526-6B6FDEB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16E53C-303A-4226-9133-C310AE0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6129A-EF59-47C0-A63C-FA46806A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3407D1-980A-4B82-ACEE-BE3A6378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28F6AB-BFE1-4B1E-A3A8-44F513F4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89EF44-A418-4814-AD72-78587A97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27BC45-F9CB-4E68-A2A0-F1F3C3AA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6FE33A-9DF7-416B-8DD0-FA65BF08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F73DDC-D66E-40D4-94E9-9FAEEDED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8DE7C4-C6D6-45F7-8098-DA50B3E8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6065BA-C47F-407B-A75A-AEE2F1A7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CC7714-898A-4F79-9D9D-D416B7E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C5AB4E-2121-469F-B028-9BBC027D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B33980-A590-446E-9203-4150BDFB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74A829-57A1-424E-B1EF-5CE03BB5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166E5A-9FC0-4BA9-B53E-55237546D5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01f4974044f72"/>
          <a:stretch xmlns:a="http://schemas.openxmlformats.org/drawingml/2006/main"/>
        </p:blipFill>
        <p:spPr>
          <a:xfrm xmlns:a="http://schemas.openxmlformats.org/drawingml/2006/main">
            <a:off x="858717" y="1381125"/>
            <a:ext cx="2473566" cy="53530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EC19AD-1282-4E03-B9E3-CD2DCC0011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0b6aecd284115"/>
          <a:stretch xmlns:a="http://schemas.openxmlformats.org/drawingml/2006/main"/>
        </p:blipFill>
        <p:spPr>
          <a:xfrm xmlns:a="http://schemas.openxmlformats.org/drawingml/2006/main">
            <a:off x="10014913" y="0"/>
            <a:ext cx="3592173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7015D1F-C7C5-401F-AE65-3F7C98F3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Что изменится после переноса на Android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EC6538-C708-482D-B577-948BB798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07999B-2602-4842-A5F5-CC95150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38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CA96E02-C965-426A-A6CC-473BC33C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Системные напоминания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7D5CCF-38DE-4BE2-B4F4-A5B521EA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671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Срабатывают по расписанию, даже когда приложение закрыто.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8A296D-F371-44B7-BDB7-35BE358F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05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916EF8-782C-4E5A-AFC5-801BA140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7909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99B44A-95C3-49F9-B0A5-837EF22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576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Защищённое хранилище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0E3999-8575-4877-9376-1FCA4546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57650"/>
            <a:ext cx="671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Локальная часть ключа хранится в Android Keystore.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1E1F0E-98BC-4896-B8EF-A38B60F9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577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9EEEFE4-B997-43FB-9151-87FB21F9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43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C182AF-FC28-4DFA-B81D-10ABEB24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101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Быстрый вход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5B186D-0C69-4B51-80EB-99DCD823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671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Биометрия может открывать уже настроенное хранилище на устройстве.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5CCD4D-AD83-484D-9AB6-1B56876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305550"/>
            <a:ext cx="78867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1DF"/>
          </a:solidFill>
          <a:ln xmlns:a="http://schemas.openxmlformats.org/drawingml/2006/main" w="9525">
            <a:solidFill>
              <a:srgbClr val="FFE1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B6FCD5D-8C02-4E60-B39F-4AA15571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3912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Текущая web-версия остаётся основой интерфейса и API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F0EDE4-907B-48DD-A2AE-4B39198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07261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626637-B8A8-4FCA-91D5-9C542619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1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F21E7-D767-4BD6-B9B3-8CEA72F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Будущее: 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46BDF-8E80-422E-A115-95F3AB85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70510"/>
            <a:ext cx="318897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E576F-959C-4C4B-9E9D-1A5EA54B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831" y="152400"/>
            <a:ext cx="248031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34799-BA2E-4A8D-94D9-ACE4979D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469" y="382715"/>
            <a:ext cx="17716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19F9D-61D7-4D23-9F5F-1B748156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96628-31EA-43B5-B1D7-1AE6427A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7C631-439E-4D49-9FFB-551DD8B1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8DA21-D307-4D24-BD7A-41426FE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8D79A-3F39-4E31-8FA1-D0B8E06F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B64B9-01B9-44A1-8A07-01C6A986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06B7D-05FC-4FF8-B89A-3217BED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F9D07-597B-4B2B-BB3F-A0E97958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0908B-0B7F-423E-9FAE-7C0EBE80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26D35-D8B3-4132-965A-FB84CF0F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A1FED-3899-47E1-A7B7-11A176FF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A4790-B7F9-4AA6-92DF-C633FB40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8260A-8D82-427E-B82B-486D460D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4055F-1BB7-469E-A6EC-4965B12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3C3772-830E-491E-8569-DEE29D2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F74488-7A5B-429C-BC92-3DE38731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5A41C8-27E1-4936-AE11-D4E2313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6CAD0-33FD-4D1E-928C-7714E38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05C8C-AAD3-4DD4-B6C3-65D76319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A4F61-C69C-496A-A9A5-3A07F197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958D19-9EF8-4483-8322-01E9DA5B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BEDC55-23B0-4053-AEFD-F2209964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4A874-CFF6-4B7C-B723-01070B8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10394B-E59D-4452-B131-5B9ACC87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011E57-9F55-42F7-B07A-394A32FB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C02F43-1773-4647-A68C-43ACB8E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62636B-6202-4690-8B4A-1DD4767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261018-D847-485A-A13F-6887053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A2C360-C5C4-486D-9FC9-4B3BB06C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2F67CE-46E7-4DE2-9B5D-1503C923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905488-AF8A-4650-B6C1-BEC8C429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77A42F-05C1-45C3-B347-AEF5AF56A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06b1b79774b57"/>
          <a:stretch xmlns:a="http://schemas.openxmlformats.org/drawingml/2006/main"/>
        </p:blipFill>
        <p:spPr>
          <a:xfrm xmlns:a="http://schemas.openxmlformats.org/drawingml/2006/main">
            <a:off x="10010217" y="0"/>
            <a:ext cx="3649192" cy="1219200"/>
          </a:xfrm>
          <a:prstGeom xmlns:a="http://schemas.openxmlformats.org/drawingml/2006/main" prst="roundRect">
            <a:avLst>
              <a:gd name="adj" fmla="val 9375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06CFA8-7FB8-4F3E-AE2B-D98A6DCA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Чтобы frontend на GitHub Pages работал постоянно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98B962-1E0C-45F2-B58B-24FF0C50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52650"/>
            <a:ext cx="857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2C634B-5719-48D2-9E23-0621889D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86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Публичный адрес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2CD943-140E-4171-95E4-935FBC5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779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Домен и HTTPS для API. CORS разрешает запросы только от опубликованного frontend и локальной разработки.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49804B-E57A-412F-B8DB-0916608D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857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EAF4DD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ECC1CC-C4F6-404E-BC49-5E5896A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14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Backend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6F7DAE-A71D-4079-96C0-1ED0634E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95750"/>
            <a:ext cx="779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Автоматический запуск после перезагрузки, проверка состояния и секреты вне репозитория.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196583-A1C4-4A8F-8CB1-2E70B9AA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8572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2F9328-1076-438E-9511-A6B5BC2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43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PostgreSQL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5CE979-0207-43A2-9B74-07AC5161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24500"/>
            <a:ext cx="7791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База без публичного доступа, резервные копии и отдельный пользователь с минимальными правами.</a:t>
            </a:r>
          </a:p>
        </p:txBody>
      </p:sp>
      <p:pic>
        <p:nvPic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D8DCA9-4F51-4745-8547-F21554638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b912dbe914718"/>
          <a:srcRect xmlns:a="http://schemas.openxmlformats.org/drawingml/2006/main" l="0" t="6808" r="0" b="6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06050" y="2333625"/>
            <a:ext cx="2667000" cy="409575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F2B81A-679D-4B3F-8AA0-22973A6D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15050"/>
            <a:ext cx="3048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44F065-EADC-44A5-85EF-7D9D6A24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61912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defPPr>
            <a:lvl1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1pPr>
            <a:lvl2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2pPr>
            <a:lvl3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3pPr>
            <a:lvl4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4pPr>
            <a:lvl5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5pPr>
            <a:lvl6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6pPr>
            <a:lvl7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7pPr>
            <a:lvl8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8pPr>
            <a:lvl9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4C4B82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4C4B82"/>
                </a:solidFill>
                <a:latin typeface="Georgia"/>
                <a:ea typeface="Georgia"/>
                <a:cs typeface="Georgia"/>
              </a:rPr>
              <a:t>Сервер работает без ручного запуска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590DB2-7EC6-4E02-A0DE-10ACC769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56403-6D19-4524-8D34-CE69EE75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01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8CAA11-D30B-4515-8DE8-ED91480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DC89903-E2DC-4A9C-AE81-9E40064C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8B02AA-13E4-470D-8F4D-94FB94AF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5D6C8C6-0186-4C7E-893C-86768717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35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411421-1CF9-48A1-BC9C-31C4F82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4372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5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9DA8E9-56B8-410D-B15C-0664F33F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7B7BB-5604-4D8C-92E5-A76C3457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35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Дальнейшее развитие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7EB33-4DD7-4D76-BEBC-315C6D77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70510"/>
            <a:ext cx="318897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511" b="0">
                <a:solidFill>
                  <a:srgbClr val="FFD0D7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FEC8-6091-4612-A081-A5356F1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831" y="152400"/>
            <a:ext cx="248031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953" b="0">
                <a:solidFill>
                  <a:srgbClr val="FF8D9E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396F7-F927-4651-9C3F-E61B5401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1469" y="382715"/>
            <a:ext cx="177165" cy="1771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defPPr>
            <a:lvl1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1pPr>
            <a:lvl2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2pPr>
            <a:lvl3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3pPr>
            <a:lvl4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4pPr>
            <a:lvl5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5pPr>
            <a:lvl6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6pPr>
            <a:lvl7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7pPr>
            <a:lvl8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8pPr>
            <a:lvl9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lvl9pPr>
          </a:lstStyle>
          <a:p xmlns:a="http://schemas.openxmlformats.org/drawingml/2006/main">
            <a:pPr algn="ctr">
              <a:buNone/>
              <a:def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395" b="0">
                <a:solidFill>
                  <a:srgbClr val="BFD8B8"/>
                </a:solidFill>
                <a:latin typeface="Segoe UI Symbol"/>
                <a:ea typeface="Segoe UI Symbol"/>
                <a:cs typeface="Segoe UI Symbol"/>
              </a:rPr>
              <a:t>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24671-18B3-410A-A454-606D86DB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5767D-11A4-4808-8DEE-0CC6018A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F3869-3C7F-449E-BF57-77B3FF62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F12C4-163C-49DD-A820-4E72F709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F8754-5608-4A75-B0D4-63F411C8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67D6E-7E05-4E82-B159-F350A2DC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EBE69-2010-4DF8-AFFC-3C0EA56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6BD94-9E56-49C6-8CCE-5013FF00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2BA22-78A6-427F-BE05-130F6899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C7C84-DBDF-4E99-83C4-56D400F8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EB7DD-2540-450A-96C1-F912686A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CDB3F-453E-4959-9423-27641AF4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507BB-90D7-45B8-8B8B-276DEC78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C590F-64E6-4797-8CBE-E447C7A8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C849E-D737-45AA-885D-DB37734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DE521-A2DC-4ACC-BBBD-FC7E73CB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BEA3A-0D45-42EB-B3BD-2A703132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57914-9EBF-432E-AD22-8828A3B1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A16692-CA58-4657-ABA3-87E0FF4D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E261B8-642A-42A5-A72B-96D2962C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2CF1B-21B9-457E-9DC3-B75D4CA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4AD0D-CBBE-4C02-9D0B-E8107ACF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70B278-DBA3-40CE-ACCE-511BF8EE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8BAEA-592B-4507-9862-D693CEA4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058876-A4A7-409F-9F9B-380F16F6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539535-787B-4A74-8A61-2660437A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E9C71-BB7F-4353-BFD5-3BD00C4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301BCB-3D87-4344-BD5C-D74954B5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8D0116-9DE6-4FA4-B254-43D7C48B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5B8725-163C-403E-B2B1-8A07CE6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62025"/>
            <a:ext cx="2476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DA6D67-50BD-427E-962B-BE7684A0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706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13180B-7AE8-4D96-B763-F0329C2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3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План после публикации первой рабочей версии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124A1E-E15C-4027-85F5-82F16A9F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347662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98F6B-D93C-4C4B-A606-E2C632E5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5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087048-0AA9-45CA-B39D-FE7C99D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E30945-A32A-4004-BCAD-551E90A8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Стабильность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B8BF5A-32F6-43F3-A3B6-13763CF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14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Миграции схемы, интеграционные тесты, журнал ошибок и мониторинг.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138A00-0071-4CFB-A07E-4FA43B29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47662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E1DF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96E0F1C-704B-4A28-94FC-68522FE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5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8B8"/>
          </a:solidFill>
          <a:ln xmlns:a="http://schemas.openxmlformats.org/drawingml/2006/main" w="9525">
            <a:solidFill>
              <a:srgbClr val="BFD8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373144-1E62-457A-A856-93A8C832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527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43AC7D-EFCA-4B29-8C33-62DA1ADD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Справочник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A6DF12-77FD-43D4-9548-07EC27E7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14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Регулярное обновление данных ГРЛС и ссылки на официальные инструкции.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4364E7-4568-46D7-95EE-30A9D628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3476625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F2DD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BC3C43-470E-44E0-A507-D9413CD0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57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834BBE-215B-4E38-AFF2-3E7CEC38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E2BC37-2B73-41B8-BC22-D2ED6ED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43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>
                <a:solidFill>
                  <a:srgbClr val="4C4B82"/>
                </a:solidFill>
                <a:latin typeface="Comic Sans MS"/>
                <a:ea typeface="Comic Sans MS"/>
                <a:cs typeface="Comic Sans MS"/>
              </a:rPr>
              <a:t>Новые сценарии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BF7243-F7FD-4A9C-AE79-FAB8DF29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714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defPPr>
            <a:lvl1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1pPr>
            <a:lvl2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2pPr>
            <a:lvl3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3pPr>
            <a:lvl4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4pPr>
            <a:lvl5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5pPr>
            <a:lvl6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6pPr>
            <a:lvl7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7pPr>
            <a:lvl8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8pPr>
            <a:lvl9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BE565D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BE565D"/>
                </a:solidFill>
                <a:latin typeface="Georgia"/>
                <a:ea typeface="Georgia"/>
                <a:cs typeface="Georgia"/>
              </a:rPr>
              <a:t>Экспорт истории для врача, профили близких и статистика пропусков.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066054-182A-408C-9527-AB3CBCED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23444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8D9E"/>
          </a:solidFill>
          <a:ln xmlns:a="http://schemas.openxmlformats.org/drawingml/2006/main" w="9525">
            <a:solidFill>
              <a:srgbClr val="FF8D9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364B9C-2D18-4F41-834F-D6BFB81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81675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Команда: Маргарита Гончарова · Лариса Джем · Дарья Емельянова · Валерия Иванова</a:t>
            </a:r>
          </a:p>
        </p:txBody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E6C1EC-CE64-4A60-B0DF-8248C03F16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466ba771a4cbc"/>
          <a:srcRect xmlns:a="http://schemas.openxmlformats.org/drawingml/2006/main" l="0" t="22205" r="0" b="22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0" y="5581650"/>
            <a:ext cx="2362200" cy="1181100"/>
          </a:xfrm>
          <a:prstGeom xmlns:a="http://schemas.openxmlformats.org/drawingml/2006/main" prst="roundRect">
            <a:avLst>
              <a:gd name="adj" fmla="val 9677"/>
            </a:avLst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DF9B4C-BA6F-4A2D-A6ED-84AB737E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7115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00" b="1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78905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2026-10-24T12:00:50.3440000Z</dcterms:created>
  <dcterms:modified xsi:type="dcterms:W3CDTF">2026-10-24T12:00:50.3450000Z</dcterms:modified>
</coreProperties>
</file>